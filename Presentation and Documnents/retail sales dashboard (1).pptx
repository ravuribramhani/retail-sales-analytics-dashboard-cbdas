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59" r:id="rId6"/>
    <p:sldId id="260" r:id="rId7"/>
    <p:sldId id="262" r:id="rId8"/>
    <p:sldId id="265" r:id="rId9"/>
    <p:sldId id="264"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DCA3F0-44DE-4EDB-858D-ED0858108FA6}" v="36" dt="2026-02-19T07:26:03.61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874A3-7B88-0C3D-56AB-25D385B5964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433EE3-3C10-D95F-1873-0B9FD28AC2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2178307-2CB5-0DA1-F5D6-77F6FDD78392}"/>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5" name="Footer Placeholder 4">
            <a:extLst>
              <a:ext uri="{FF2B5EF4-FFF2-40B4-BE49-F238E27FC236}">
                <a16:creationId xmlns:a16="http://schemas.microsoft.com/office/drawing/2014/main" id="{EC4D12A1-A6C8-1F9E-CEAD-05738FC5998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5A8442-42B2-FAFE-C031-DA83690894B0}"/>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29417571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FE2611-B1E5-33D7-F90B-29D37C962D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AC2176D-8E32-F624-5C0B-55D9ACE95F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77DAE5-4C83-48E8-FC02-92B730A9E7BC}"/>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5" name="Footer Placeholder 4">
            <a:extLst>
              <a:ext uri="{FF2B5EF4-FFF2-40B4-BE49-F238E27FC236}">
                <a16:creationId xmlns:a16="http://schemas.microsoft.com/office/drawing/2014/main" id="{C8C2239D-2AB6-C6E1-8E11-1ADFB7C9347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8F7051-59E3-A8EB-30CC-954202DA3600}"/>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25568655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F8938E-B9F6-FC82-B433-D40A9E1E8F3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170C602-3109-3D9B-F126-BD1255FB5E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EFCEBE-B247-6ED2-43E1-7A7BBE097C81}"/>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5" name="Footer Placeholder 4">
            <a:extLst>
              <a:ext uri="{FF2B5EF4-FFF2-40B4-BE49-F238E27FC236}">
                <a16:creationId xmlns:a16="http://schemas.microsoft.com/office/drawing/2014/main" id="{D1721EA9-C783-D1E8-4F3F-60987F53B7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AE0318-E9F1-94CE-E020-23B6FF29857A}"/>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2287973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5B70A-EE53-A4BA-B4DC-C302180AA2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2C5B2FD-7849-604C-4B6C-442DDEFC50F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9EF0748-5C91-091F-FF9E-5779DC856A3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6455C6-A07D-549E-CD63-02A0E01C0E7C}"/>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6" name="Footer Placeholder 5">
            <a:extLst>
              <a:ext uri="{FF2B5EF4-FFF2-40B4-BE49-F238E27FC236}">
                <a16:creationId xmlns:a16="http://schemas.microsoft.com/office/drawing/2014/main" id="{D894E4BC-2303-6F03-7DCD-3D273070CB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63DFC4-DAE9-DF03-9105-CCE354AA1E78}"/>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27299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6A248-FE73-84B6-F73D-75D393F9852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709276-748D-E27F-2DB0-AE0ABB4ECD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170362-245C-07FC-5CC8-2DDABD074FE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5C0EDDE-C230-E0AA-0882-049CCA1747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90A52B1-0559-4707-2DD8-200D2DDF4A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7A6CF5-2259-F55D-94AE-AE47AED5371D}"/>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8" name="Footer Placeholder 7">
            <a:extLst>
              <a:ext uri="{FF2B5EF4-FFF2-40B4-BE49-F238E27FC236}">
                <a16:creationId xmlns:a16="http://schemas.microsoft.com/office/drawing/2014/main" id="{D3E3288A-CB07-3963-3157-C57E8BE4427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DD7BA3C-BFE2-D50A-A2CE-C586CEE03720}"/>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5482108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B4C43-AC11-1A86-1385-7AAB19678DA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ADCE4CF-A477-CB24-0CA0-5D74A5533D35}"/>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4" name="Footer Placeholder 3">
            <a:extLst>
              <a:ext uri="{FF2B5EF4-FFF2-40B4-BE49-F238E27FC236}">
                <a16:creationId xmlns:a16="http://schemas.microsoft.com/office/drawing/2014/main" id="{C3B77371-A0E6-2B92-84FE-A0849C9E9C7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9939183-C7CB-BB47-D4BE-FFA48FA56D7D}"/>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3919827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50F0F7-EDA7-CA3F-B1B0-581DFF599E32}"/>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3" name="Footer Placeholder 2">
            <a:extLst>
              <a:ext uri="{FF2B5EF4-FFF2-40B4-BE49-F238E27FC236}">
                <a16:creationId xmlns:a16="http://schemas.microsoft.com/office/drawing/2014/main" id="{786DA991-E701-E5A1-1309-93C2DA6B1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6F2786F-64EB-4812-604A-C01111FA968A}"/>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2243401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22474-B503-398F-E60A-3FC03FF4428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B31B92D-3D3F-8727-843D-EF4749FD77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3478AD-3D58-5082-E7F5-9E56A5FD4B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4EC46F-FC5C-D328-1D1E-64A94633E7E6}"/>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6" name="Footer Placeholder 5">
            <a:extLst>
              <a:ext uri="{FF2B5EF4-FFF2-40B4-BE49-F238E27FC236}">
                <a16:creationId xmlns:a16="http://schemas.microsoft.com/office/drawing/2014/main" id="{79AF702F-DC0E-44B4-6472-A418C6C9205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F3CBA1-6186-D1EB-A18E-4A36E5D14D47}"/>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30198744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693C0-4B91-E3D1-5683-5E8A2007A8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074BD37-12F7-0FB7-E492-C3D1096F9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CFA6B2F-447E-A2AA-1F90-C58D75D98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BA1412-C706-A994-55BC-2698662D3908}"/>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6" name="Footer Placeholder 5">
            <a:extLst>
              <a:ext uri="{FF2B5EF4-FFF2-40B4-BE49-F238E27FC236}">
                <a16:creationId xmlns:a16="http://schemas.microsoft.com/office/drawing/2014/main" id="{955D981B-44DD-E513-374F-661B9ADB5E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590371-54B8-A916-B194-406377A015FF}"/>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18537590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F93F0-1BE2-3243-4494-8114B0C9A36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4AF9D3D-1BF0-1BAC-E306-6B2CB54C64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164C4A-9DEA-B428-2E98-781B9062C0D6}"/>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5" name="Footer Placeholder 4">
            <a:extLst>
              <a:ext uri="{FF2B5EF4-FFF2-40B4-BE49-F238E27FC236}">
                <a16:creationId xmlns:a16="http://schemas.microsoft.com/office/drawing/2014/main" id="{A5816C18-01E5-9123-34C7-84994DB2C7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74C820-6BB7-9A36-0D8F-1A2CE883DBBD}"/>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37214004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92A0D1-81DA-3D66-9059-32264AED74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C01D30-7677-DDDE-B674-2B522258AD8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DEE5EC-6D1B-51EB-BA8B-92AEA8E3B817}"/>
              </a:ext>
            </a:extLst>
          </p:cNvPr>
          <p:cNvSpPr>
            <a:spLocks noGrp="1"/>
          </p:cNvSpPr>
          <p:nvPr>
            <p:ph type="dt" sz="half" idx="10"/>
          </p:nvPr>
        </p:nvSpPr>
        <p:spPr/>
        <p:txBody>
          <a:bodyPr/>
          <a:lstStyle/>
          <a:p>
            <a:fld id="{43977478-96FD-48DE-8328-6D7A64E15FED}" type="datetimeFigureOut">
              <a:rPr lang="en-IN" smtClean="0"/>
              <a:t>21-04-2026</a:t>
            </a:fld>
            <a:endParaRPr lang="en-IN"/>
          </a:p>
        </p:txBody>
      </p:sp>
      <p:sp>
        <p:nvSpPr>
          <p:cNvPr id="5" name="Footer Placeholder 4">
            <a:extLst>
              <a:ext uri="{FF2B5EF4-FFF2-40B4-BE49-F238E27FC236}">
                <a16:creationId xmlns:a16="http://schemas.microsoft.com/office/drawing/2014/main" id="{0C136107-DCA2-A3B9-74DA-B0C9E5F75A2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5194A2-34F0-23C4-4710-7A8A2A0B1AEF}"/>
              </a:ext>
            </a:extLst>
          </p:cNvPr>
          <p:cNvSpPr>
            <a:spLocks noGrp="1"/>
          </p:cNvSpPr>
          <p:nvPr>
            <p:ph type="sldNum" sz="quarter" idx="12"/>
          </p:nvPr>
        </p:nvSpPr>
        <p:spPr/>
        <p:txBody>
          <a:bodyPr/>
          <a:lstStyle/>
          <a:p>
            <a:fld id="{0B3FECF4-FE8E-43BD-B74D-568A8A39C251}" type="slidenum">
              <a:rPr lang="en-IN" smtClean="0"/>
              <a:t>‹#›</a:t>
            </a:fld>
            <a:endParaRPr lang="en-IN"/>
          </a:p>
        </p:txBody>
      </p:sp>
    </p:spTree>
    <p:extLst>
      <p:ext uri="{BB962C8B-B14F-4D97-AF65-F5344CB8AC3E}">
        <p14:creationId xmlns:p14="http://schemas.microsoft.com/office/powerpoint/2010/main" val="2539246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7868B9A-F9A2-BDF3-7703-3C0C2B1A7A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14F04DE-B05F-DEEC-ABCF-7716ABC3EC2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E6C800-3EEA-26C5-1445-146D99B383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977478-96FD-48DE-8328-6D7A64E15FED}" type="datetimeFigureOut">
              <a:rPr lang="en-IN" smtClean="0"/>
              <a:t>21-04-2026</a:t>
            </a:fld>
            <a:endParaRPr lang="en-IN"/>
          </a:p>
        </p:txBody>
      </p:sp>
      <p:sp>
        <p:nvSpPr>
          <p:cNvPr id="5" name="Footer Placeholder 4">
            <a:extLst>
              <a:ext uri="{FF2B5EF4-FFF2-40B4-BE49-F238E27FC236}">
                <a16:creationId xmlns:a16="http://schemas.microsoft.com/office/drawing/2014/main" id="{88F5D86B-51B4-BF6C-1177-C09B1B5ADC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765F843-66A0-EFF5-374C-FA094131CFE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3FECF4-FE8E-43BD-B74D-568A8A39C251}" type="slidenum">
              <a:rPr lang="en-IN" smtClean="0"/>
              <a:t>‹#›</a:t>
            </a:fld>
            <a:endParaRPr lang="en-IN"/>
          </a:p>
        </p:txBody>
      </p:sp>
    </p:spTree>
    <p:extLst>
      <p:ext uri="{BB962C8B-B14F-4D97-AF65-F5344CB8AC3E}">
        <p14:creationId xmlns:p14="http://schemas.microsoft.com/office/powerpoint/2010/main" val="41123110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AF4C8-8100-A285-F931-7BC211D77E70}"/>
              </a:ext>
            </a:extLst>
          </p:cNvPr>
          <p:cNvSpPr>
            <a:spLocks noGrp="1"/>
          </p:cNvSpPr>
          <p:nvPr>
            <p:ph type="ctrTitle"/>
          </p:nvPr>
        </p:nvSpPr>
        <p:spPr>
          <a:xfrm>
            <a:off x="1524000" y="639097"/>
            <a:ext cx="9144000" cy="2113782"/>
          </a:xfrm>
        </p:spPr>
        <p:txBody>
          <a:bodyPr>
            <a:normAutofit/>
          </a:bodyPr>
          <a:lstStyle/>
          <a:p>
            <a:r>
              <a:rPr lang="en-IN" sz="4800" b="1" dirty="0"/>
              <a:t>Retail Sales Analytics Dashboard</a:t>
            </a:r>
          </a:p>
        </p:txBody>
      </p:sp>
      <p:sp>
        <p:nvSpPr>
          <p:cNvPr id="3" name="Subtitle 2">
            <a:extLst>
              <a:ext uri="{FF2B5EF4-FFF2-40B4-BE49-F238E27FC236}">
                <a16:creationId xmlns:a16="http://schemas.microsoft.com/office/drawing/2014/main" id="{79A29E7A-C830-688F-456B-B203A36F6971}"/>
              </a:ext>
            </a:extLst>
          </p:cNvPr>
          <p:cNvSpPr>
            <a:spLocks noGrp="1"/>
          </p:cNvSpPr>
          <p:nvPr>
            <p:ph type="subTitle" idx="1"/>
          </p:nvPr>
        </p:nvSpPr>
        <p:spPr/>
        <p:txBody>
          <a:bodyPr>
            <a:normAutofit/>
          </a:bodyPr>
          <a:lstStyle/>
          <a:p>
            <a:r>
              <a:rPr lang="en-IN" sz="1800" dirty="0"/>
              <a:t>2320030278 – Cherukuri Sai Deekshitha</a:t>
            </a:r>
          </a:p>
          <a:p>
            <a:r>
              <a:rPr lang="en-IN" sz="1800" dirty="0"/>
              <a:t>2320030355 – Paladi Raga Amrutha Ratna</a:t>
            </a:r>
          </a:p>
          <a:p>
            <a:r>
              <a:rPr lang="en-IN" sz="1800" dirty="0"/>
              <a:t>2320030104 – Ravuri Bramhani</a:t>
            </a:r>
          </a:p>
          <a:p>
            <a:r>
              <a:rPr lang="en-IN" sz="1800" dirty="0"/>
              <a:t>Sec-4</a:t>
            </a:r>
          </a:p>
        </p:txBody>
      </p:sp>
      <p:pic>
        <p:nvPicPr>
          <p:cNvPr id="4" name="Picture 3">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823713" y="156554"/>
            <a:ext cx="2219517" cy="1156816"/>
          </a:xfrm>
          <a:prstGeom prst="rect">
            <a:avLst/>
          </a:prstGeom>
        </p:spPr>
      </p:pic>
    </p:spTree>
    <p:extLst>
      <p:ext uri="{BB962C8B-B14F-4D97-AF65-F5344CB8AC3E}">
        <p14:creationId xmlns:p14="http://schemas.microsoft.com/office/powerpoint/2010/main" val="15573388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86B94-01C1-FFDE-F9D2-441A714FA170}"/>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1. Introduction</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3745F61-0A65-923C-EF8C-3DAC9538E90F}"/>
              </a:ext>
            </a:extLst>
          </p:cNvPr>
          <p:cNvSpPr>
            <a:spLocks noGrp="1"/>
          </p:cNvSpPr>
          <p:nvPr>
            <p:ph idx="1"/>
          </p:nvPr>
        </p:nvSpPr>
        <p:spPr>
          <a:xfrm>
            <a:off x="725864" y="1521941"/>
            <a:ext cx="10627936" cy="4655022"/>
          </a:xfrm>
        </p:spPr>
        <p:txBody>
          <a:bodyPr>
            <a:normAutofit/>
          </a:bodyPr>
          <a:lstStyle/>
          <a:p>
            <a:r>
              <a:rPr lang="en-US" sz="2400" dirty="0">
                <a:latin typeface="Times New Roman" panose="02020603050405020304" pitchFamily="18" charset="0"/>
                <a:cs typeface="Times New Roman" panose="02020603050405020304" pitchFamily="18" charset="0"/>
              </a:rPr>
              <a:t>Retail businesses generate huge amounts of data daily through sales transactions, customer purchases, and inventory systems. Managing and analyzing this data using traditional systems is difficult due to scalability issues, lack of integration, and delayed insights.</a:t>
            </a:r>
          </a:p>
          <a:p>
            <a:r>
              <a:rPr lang="en-US" sz="2400" dirty="0">
                <a:latin typeface="Times New Roman" panose="02020603050405020304" pitchFamily="18" charset="0"/>
                <a:cs typeface="Times New Roman" panose="02020603050405020304" pitchFamily="18" charset="0"/>
              </a:rPr>
              <a:t>With the advancement of cloud computing, modern solutions like </a:t>
            </a:r>
            <a:r>
              <a:rPr lang="en-US" sz="2400" b="1" dirty="0">
                <a:latin typeface="Times New Roman" panose="02020603050405020304" pitchFamily="18" charset="0"/>
                <a:cs typeface="Times New Roman" panose="02020603050405020304" pitchFamily="18" charset="0"/>
              </a:rPr>
              <a:t>Microsoft Azure</a:t>
            </a:r>
            <a:r>
              <a:rPr lang="en-US" sz="2400" dirty="0">
                <a:latin typeface="Times New Roman" panose="02020603050405020304" pitchFamily="18" charset="0"/>
                <a:cs typeface="Times New Roman" panose="02020603050405020304" pitchFamily="18" charset="0"/>
              </a:rPr>
              <a:t> provide scalable and efficient platforms for storing and processing large datasets. This project focuses on building a </a:t>
            </a:r>
            <a:r>
              <a:rPr lang="en-US" sz="2400" b="1" dirty="0">
                <a:latin typeface="Times New Roman" panose="02020603050405020304" pitchFamily="18" charset="0"/>
                <a:cs typeface="Times New Roman" panose="02020603050405020304" pitchFamily="18" charset="0"/>
              </a:rPr>
              <a:t>Retail Sales Analytics Dashboard</a:t>
            </a:r>
            <a:r>
              <a:rPr lang="en-US" sz="2400" dirty="0">
                <a:latin typeface="Times New Roman" panose="02020603050405020304" pitchFamily="18" charset="0"/>
                <a:cs typeface="Times New Roman" panose="02020603050405020304" pitchFamily="18" charset="0"/>
              </a:rPr>
              <a:t> that helps businesses analyze their sales data effectively and make data-driven decisions using cloud technologies and visualization tools.</a:t>
            </a:r>
          </a:p>
        </p:txBody>
      </p:sp>
      <p:pic>
        <p:nvPicPr>
          <p:cNvPr id="4" name="Picture 3">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794217" y="102629"/>
            <a:ext cx="2219517" cy="1156816"/>
          </a:xfrm>
          <a:prstGeom prst="rect">
            <a:avLst/>
          </a:prstGeom>
        </p:spPr>
      </p:pic>
    </p:spTree>
    <p:extLst>
      <p:ext uri="{BB962C8B-B14F-4D97-AF65-F5344CB8AC3E}">
        <p14:creationId xmlns:p14="http://schemas.microsoft.com/office/powerpoint/2010/main" val="4219375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EED88-A7A3-C6A6-13DD-9BDB608E6294}"/>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2. Abstract</a:t>
            </a:r>
          </a:p>
        </p:txBody>
      </p:sp>
      <p:sp>
        <p:nvSpPr>
          <p:cNvPr id="4" name="Rectangle 1">
            <a:extLst>
              <a:ext uri="{FF2B5EF4-FFF2-40B4-BE49-F238E27FC236}">
                <a16:creationId xmlns:a16="http://schemas.microsoft.com/office/drawing/2014/main" id="{C831ECF5-3363-02B7-43EE-F72BD523F8B2}"/>
              </a:ext>
            </a:extLst>
          </p:cNvPr>
          <p:cNvSpPr>
            <a:spLocks noGrp="1" noChangeArrowheads="1"/>
          </p:cNvSpPr>
          <p:nvPr>
            <p:ph idx="1"/>
          </p:nvPr>
        </p:nvSpPr>
        <p:spPr bwMode="auto">
          <a:xfrm>
            <a:off x="838200" y="1490521"/>
            <a:ext cx="10773697" cy="38769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latin typeface="Times New Roman" panose="02020603050405020304" pitchFamily="18" charset="0"/>
                <a:cs typeface="Times New Roman" panose="02020603050405020304" pitchFamily="18" charset="0"/>
              </a:rPr>
              <a:t>Retail businesses generate large volumes of sales data on a daily basis through transactions, products, and customer interactions. However, traditional systems often face challenges in handling large datasets, providing scalability, and delivering timely insights. This creates the need for a modern cloud-based solution that can efficiently store, process, and analyze retail data for better decision-making.</a:t>
            </a:r>
          </a:p>
          <a:p>
            <a:r>
              <a:rPr lang="en-US" sz="2400" dirty="0">
                <a:latin typeface="Times New Roman" panose="02020603050405020304" pitchFamily="18" charset="0"/>
                <a:cs typeface="Times New Roman" panose="02020603050405020304" pitchFamily="18" charset="0"/>
              </a:rPr>
              <a:t>This project presents a Retail Sales Analytics Dashboard using Microsoft Azure and Power BI. In this system, sales data is stored in Azure Blob Storage, which provides scalable and cost-effective storage for raw data. Azure Data Factory is used to automate the data ingestion process, transferring data into Azure Synapse Analytics, where it is processed and organized. Finally, Power BI is used to create interactive dashboards that visualize key insights such as sales trends and product performance.</a:t>
            </a:r>
          </a:p>
        </p:txBody>
      </p:sp>
      <p:pic>
        <p:nvPicPr>
          <p:cNvPr id="5" name="Picture 4">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794216" y="193396"/>
            <a:ext cx="2219517" cy="1156816"/>
          </a:xfrm>
          <a:prstGeom prst="rect">
            <a:avLst/>
          </a:prstGeom>
        </p:spPr>
      </p:pic>
    </p:spTree>
    <p:extLst>
      <p:ext uri="{BB962C8B-B14F-4D97-AF65-F5344CB8AC3E}">
        <p14:creationId xmlns:p14="http://schemas.microsoft.com/office/powerpoint/2010/main" val="3495019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BE3F7-2FAE-651E-BB47-4BD3353BEE82}"/>
              </a:ext>
            </a:extLst>
          </p:cNvPr>
          <p:cNvSpPr>
            <a:spLocks noGrp="1"/>
          </p:cNvSpPr>
          <p:nvPr>
            <p:ph type="title"/>
          </p:nvPr>
        </p:nvSpPr>
        <p:spPr>
          <a:xfrm>
            <a:off x="838200" y="365125"/>
            <a:ext cx="10515600" cy="1482529"/>
          </a:xfrm>
        </p:spPr>
        <p:txBody>
          <a:bodyPr>
            <a:normAutofit/>
          </a:bodyPr>
          <a:lstStyle/>
          <a:p>
            <a:r>
              <a:rPr lang="en-US" b="1" dirty="0">
                <a:latin typeface="Times New Roman" panose="02020603050405020304" pitchFamily="18" charset="0"/>
                <a:cs typeface="Times New Roman" panose="02020603050405020304" pitchFamily="18" charset="0"/>
              </a:rPr>
              <a:t>📌 3. Objectives</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EE38E8-5195-FF34-A593-03F12D137842}"/>
              </a:ext>
            </a:extLst>
          </p:cNvPr>
          <p:cNvSpPr>
            <a:spLocks noGrp="1"/>
          </p:cNvSpPr>
          <p:nvPr>
            <p:ph idx="1"/>
          </p:nvPr>
        </p:nvSpPr>
        <p:spPr>
          <a:xfrm>
            <a:off x="1140642" y="1706252"/>
            <a:ext cx="10213157" cy="4470711"/>
          </a:xfrm>
        </p:spPr>
        <p:txBody>
          <a:bodyPr>
            <a:normAutofit/>
          </a:bodyPr>
          <a:lstStyle/>
          <a:p>
            <a:r>
              <a:rPr lang="en-US" dirty="0">
                <a:latin typeface="Times New Roman" panose="02020603050405020304" pitchFamily="18" charset="0"/>
                <a:cs typeface="Times New Roman" panose="02020603050405020304" pitchFamily="18" charset="0"/>
              </a:rPr>
              <a:t>To design a scalable cloud-based data analytics system </a:t>
            </a:r>
          </a:p>
          <a:p>
            <a:r>
              <a:rPr lang="en-US" dirty="0">
                <a:latin typeface="Times New Roman" panose="02020603050405020304" pitchFamily="18" charset="0"/>
                <a:cs typeface="Times New Roman" panose="02020603050405020304" pitchFamily="18" charset="0"/>
              </a:rPr>
              <a:t>To automate data ingestion using Azure Data Factory </a:t>
            </a:r>
          </a:p>
          <a:p>
            <a:r>
              <a:rPr lang="en-US" dirty="0">
                <a:latin typeface="Times New Roman" panose="02020603050405020304" pitchFamily="18" charset="0"/>
                <a:cs typeface="Times New Roman" panose="02020603050405020304" pitchFamily="18" charset="0"/>
              </a:rPr>
              <a:t>To store large datasets efficiently using Azure Blob Storage </a:t>
            </a:r>
          </a:p>
          <a:p>
            <a:r>
              <a:rPr lang="en-US" dirty="0">
                <a:latin typeface="Times New Roman" panose="02020603050405020304" pitchFamily="18" charset="0"/>
                <a:cs typeface="Times New Roman" panose="02020603050405020304" pitchFamily="18" charset="0"/>
              </a:rPr>
              <a:t>To process and analyze data using Azure Synapse Analytics </a:t>
            </a:r>
          </a:p>
          <a:p>
            <a:r>
              <a:rPr lang="en-US" dirty="0">
                <a:latin typeface="Times New Roman" panose="02020603050405020304" pitchFamily="18" charset="0"/>
                <a:cs typeface="Times New Roman" panose="02020603050405020304" pitchFamily="18" charset="0"/>
              </a:rPr>
              <a:t>To create interactive dashboards using Power BI </a:t>
            </a:r>
          </a:p>
          <a:p>
            <a:r>
              <a:rPr lang="en-US" dirty="0">
                <a:latin typeface="Times New Roman" panose="02020603050405020304" pitchFamily="18" charset="0"/>
                <a:cs typeface="Times New Roman" panose="02020603050405020304" pitchFamily="18" charset="0"/>
              </a:rPr>
              <a:t>To provide real-time insights for business decision-making</a:t>
            </a:r>
          </a:p>
        </p:txBody>
      </p:sp>
      <p:pic>
        <p:nvPicPr>
          <p:cNvPr id="4" name="Picture 3">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872875" y="62384"/>
            <a:ext cx="2219517" cy="1156816"/>
          </a:xfrm>
          <a:prstGeom prst="rect">
            <a:avLst/>
          </a:prstGeom>
        </p:spPr>
      </p:pic>
    </p:spTree>
    <p:extLst>
      <p:ext uri="{BB962C8B-B14F-4D97-AF65-F5344CB8AC3E}">
        <p14:creationId xmlns:p14="http://schemas.microsoft.com/office/powerpoint/2010/main" val="3761085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C7432-2FA7-125D-6672-BA9DBCE179C1}"/>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4. Literature Survey</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3AA8092-CAA7-E033-8464-4B71B2A1176C}"/>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Traditional retail data analysis methods rely on tools like Excel and local databases, which have limitations in handling large datasets and real-time analytics. On-premise data warehouses offer structured storage but involve high costs and complex maintenance.</a:t>
            </a:r>
          </a:p>
          <a:p>
            <a:r>
              <a:rPr lang="en-US" dirty="0">
                <a:latin typeface="Times New Roman" panose="02020603050405020304" pitchFamily="18" charset="0"/>
                <a:cs typeface="Times New Roman" panose="02020603050405020304" pitchFamily="18" charset="0"/>
              </a:rPr>
              <a:t>Recent studies show that cloud platforms like Microsoft Azure provide scalable, flexible, and cost-effective solutions for big data analytics. Tools like Azure Data Factory, Azure Data Lake, and Power BI enable automated pipelines, efficient data processing, and interactive visualization. These technologies improve decision-making and reduce infrastructure complexity.</a:t>
            </a:r>
          </a:p>
        </p:txBody>
      </p:sp>
      <p:pic>
        <p:nvPicPr>
          <p:cNvPr id="4" name="Picture 3">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853210" y="102629"/>
            <a:ext cx="2219517" cy="1156816"/>
          </a:xfrm>
          <a:prstGeom prst="rect">
            <a:avLst/>
          </a:prstGeom>
        </p:spPr>
      </p:pic>
    </p:spTree>
    <p:extLst>
      <p:ext uri="{BB962C8B-B14F-4D97-AF65-F5344CB8AC3E}">
        <p14:creationId xmlns:p14="http://schemas.microsoft.com/office/powerpoint/2010/main" val="4011544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143EB-0A1C-7115-0D15-ED722519DCBF}"/>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 5. Proposed Solution</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A2B08D4-10A3-F65F-A8B4-89FC9FFAE3BE}"/>
              </a:ext>
            </a:extLst>
          </p:cNvPr>
          <p:cNvSpPr>
            <a:spLocks noGrp="1"/>
          </p:cNvSpPr>
          <p:nvPr>
            <p:ph idx="1"/>
          </p:nvPr>
        </p:nvSpPr>
        <p:spPr>
          <a:xfrm>
            <a:off x="1074656" y="1387004"/>
            <a:ext cx="10590228" cy="5105871"/>
          </a:xfrm>
        </p:spPr>
        <p:txBody>
          <a:bodyPr>
            <a:normAutofit/>
          </a:bodyPr>
          <a:lstStyle/>
          <a:p>
            <a:r>
              <a:rPr lang="en-US" sz="3200" dirty="0">
                <a:latin typeface="Times New Roman" panose="02020603050405020304" pitchFamily="18" charset="0"/>
                <a:cs typeface="Times New Roman" panose="02020603050405020304" pitchFamily="18" charset="0"/>
              </a:rPr>
              <a:t>The proposed system is a </a:t>
            </a:r>
            <a:r>
              <a:rPr lang="en-US" sz="3200" b="1" dirty="0">
                <a:latin typeface="Times New Roman" panose="02020603050405020304" pitchFamily="18" charset="0"/>
                <a:cs typeface="Times New Roman" panose="02020603050405020304" pitchFamily="18" charset="0"/>
              </a:rPr>
              <a:t>cloud-based retail analytics platform</a:t>
            </a:r>
            <a:r>
              <a:rPr lang="en-US" sz="3200" dirty="0">
                <a:latin typeface="Times New Roman" panose="02020603050405020304" pitchFamily="18" charset="0"/>
                <a:cs typeface="Times New Roman" panose="02020603050405020304" pitchFamily="18" charset="0"/>
              </a:rPr>
              <a:t> built using Microsoft Azure services. It integrates:</a:t>
            </a:r>
          </a:p>
          <a:p>
            <a:r>
              <a:rPr lang="en-US" sz="3200" dirty="0">
                <a:latin typeface="Times New Roman" panose="02020603050405020304" pitchFamily="18" charset="0"/>
                <a:cs typeface="Times New Roman" panose="02020603050405020304" pitchFamily="18" charset="0"/>
              </a:rPr>
              <a:t>Azure Blob Storage for data storage </a:t>
            </a:r>
          </a:p>
          <a:p>
            <a:r>
              <a:rPr lang="en-US" sz="3200" dirty="0">
                <a:latin typeface="Times New Roman" panose="02020603050405020304" pitchFamily="18" charset="0"/>
                <a:cs typeface="Times New Roman" panose="02020603050405020304" pitchFamily="18" charset="0"/>
              </a:rPr>
              <a:t>Azure Data Factory for data ingestion </a:t>
            </a:r>
          </a:p>
          <a:p>
            <a:r>
              <a:rPr lang="en-US" sz="3200" dirty="0">
                <a:latin typeface="Times New Roman" panose="02020603050405020304" pitchFamily="18" charset="0"/>
                <a:cs typeface="Times New Roman" panose="02020603050405020304" pitchFamily="18" charset="0"/>
              </a:rPr>
              <a:t>Azure Synapse Analytics for processing </a:t>
            </a:r>
          </a:p>
          <a:p>
            <a:r>
              <a:rPr lang="en-US" sz="3200" dirty="0">
                <a:latin typeface="Times New Roman" panose="02020603050405020304" pitchFamily="18" charset="0"/>
                <a:cs typeface="Times New Roman" panose="02020603050405020304" pitchFamily="18" charset="0"/>
              </a:rPr>
              <a:t>Power BI for visualization </a:t>
            </a:r>
          </a:p>
          <a:p>
            <a:r>
              <a:rPr lang="en-US" sz="3200" dirty="0">
                <a:latin typeface="Times New Roman" panose="02020603050405020304" pitchFamily="18" charset="0"/>
                <a:cs typeface="Times New Roman" panose="02020603050405020304" pitchFamily="18" charset="0"/>
              </a:rPr>
              <a:t>This system provides an end-to-end pipeline from data collection to insight generation, ensuring scalability, automation, and real-time analytics.</a:t>
            </a:r>
          </a:p>
        </p:txBody>
      </p:sp>
      <p:pic>
        <p:nvPicPr>
          <p:cNvPr id="4" name="Picture 3">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715559" y="230188"/>
            <a:ext cx="2219517" cy="1156816"/>
          </a:xfrm>
          <a:prstGeom prst="rect">
            <a:avLst/>
          </a:prstGeom>
        </p:spPr>
      </p:pic>
    </p:spTree>
    <p:extLst>
      <p:ext uri="{BB962C8B-B14F-4D97-AF65-F5344CB8AC3E}">
        <p14:creationId xmlns:p14="http://schemas.microsoft.com/office/powerpoint/2010/main" val="1988473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58777D-F0FC-C240-2F63-63982A402213}"/>
              </a:ext>
            </a:extLst>
          </p:cNvPr>
          <p:cNvSpPr>
            <a:spLocks noGrp="1"/>
          </p:cNvSpPr>
          <p:nvPr>
            <p:ph type="title"/>
          </p:nvPr>
        </p:nvSpPr>
        <p:spPr>
          <a:xfrm>
            <a:off x="680884" y="536622"/>
            <a:ext cx="10515600" cy="1042220"/>
          </a:xfrm>
        </p:spPr>
        <p:txBody>
          <a:bodyPr>
            <a:normAutofit fontScale="90000"/>
          </a:bodyPr>
          <a:lstStyle/>
          <a:p>
            <a:r>
              <a:rPr lang="en-US" b="1" dirty="0">
                <a:latin typeface="Times New Roman" panose="02020603050405020304" pitchFamily="18" charset="0"/>
                <a:cs typeface="Times New Roman" panose="02020603050405020304" pitchFamily="18" charset="0"/>
              </a:rPr>
              <a:t>📌 6. Methodology</a:t>
            </a:r>
            <a:br>
              <a:rPr lang="en-US" b="1"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C12661-4AB2-7474-C353-953E589BB33C}"/>
              </a:ext>
            </a:extLst>
          </p:cNvPr>
          <p:cNvSpPr>
            <a:spLocks noGrp="1"/>
          </p:cNvSpPr>
          <p:nvPr>
            <p:ph idx="1"/>
          </p:nvPr>
        </p:nvSpPr>
        <p:spPr>
          <a:xfrm>
            <a:off x="749710" y="1804221"/>
            <a:ext cx="10515600" cy="4847302"/>
          </a:xfrm>
        </p:spPr>
        <p:txBody>
          <a:bodyPr>
            <a:normAutofit/>
          </a:bodyPr>
          <a:lstStyle/>
          <a:p>
            <a:r>
              <a:rPr lang="en-US" dirty="0">
                <a:latin typeface="Times New Roman" panose="02020603050405020304" pitchFamily="18" charset="0"/>
                <a:cs typeface="Times New Roman" panose="02020603050405020304" pitchFamily="18" charset="0"/>
              </a:rPr>
              <a:t>The project follows these steps:</a:t>
            </a:r>
          </a:p>
          <a:p>
            <a:r>
              <a:rPr lang="en-US" dirty="0">
                <a:latin typeface="Times New Roman" panose="02020603050405020304" pitchFamily="18" charset="0"/>
                <a:cs typeface="Times New Roman" panose="02020603050405020304" pitchFamily="18" charset="0"/>
              </a:rPr>
              <a:t>Data collection from retail sources </a:t>
            </a:r>
          </a:p>
          <a:p>
            <a:r>
              <a:rPr lang="en-US" dirty="0">
                <a:latin typeface="Times New Roman" panose="02020603050405020304" pitchFamily="18" charset="0"/>
                <a:cs typeface="Times New Roman" panose="02020603050405020304" pitchFamily="18" charset="0"/>
              </a:rPr>
              <a:t>Data storage in Azure Blob Storage </a:t>
            </a:r>
          </a:p>
          <a:p>
            <a:r>
              <a:rPr lang="en-US" dirty="0">
                <a:latin typeface="Times New Roman" panose="02020603050405020304" pitchFamily="18" charset="0"/>
                <a:cs typeface="Times New Roman" panose="02020603050405020304" pitchFamily="18" charset="0"/>
              </a:rPr>
              <a:t>Data ingestion using Azure Data Factory </a:t>
            </a:r>
          </a:p>
          <a:p>
            <a:r>
              <a:rPr lang="en-US" dirty="0">
                <a:latin typeface="Times New Roman" panose="02020603050405020304" pitchFamily="18" charset="0"/>
                <a:cs typeface="Times New Roman" panose="02020603050405020304" pitchFamily="18" charset="0"/>
              </a:rPr>
              <a:t>Data processing and transformation in Azure Synapse </a:t>
            </a:r>
          </a:p>
          <a:p>
            <a:r>
              <a:rPr lang="en-US" dirty="0">
                <a:latin typeface="Times New Roman" panose="02020603050405020304" pitchFamily="18" charset="0"/>
                <a:cs typeface="Times New Roman" panose="02020603050405020304" pitchFamily="18" charset="0"/>
              </a:rPr>
              <a:t>Data visualization using Power BI dashboards </a:t>
            </a:r>
          </a:p>
          <a:p>
            <a:r>
              <a:rPr lang="en-US" dirty="0">
                <a:latin typeface="Times New Roman" panose="02020603050405020304" pitchFamily="18" charset="0"/>
                <a:cs typeface="Times New Roman" panose="02020603050405020304" pitchFamily="18" charset="0"/>
              </a:rPr>
              <a:t>Deployment and automation of pipelines </a:t>
            </a:r>
          </a:p>
          <a:p>
            <a:r>
              <a:rPr lang="en-US" dirty="0">
                <a:latin typeface="Times New Roman" panose="02020603050405020304" pitchFamily="18" charset="0"/>
                <a:cs typeface="Times New Roman" panose="02020603050405020304" pitchFamily="18" charset="0"/>
              </a:rPr>
              <a:t>This methodology ensures efficient data flow and analysis.</a:t>
            </a:r>
          </a:p>
        </p:txBody>
      </p:sp>
      <p:pic>
        <p:nvPicPr>
          <p:cNvPr id="4" name="Picture 3">
            <a:extLst>
              <a:ext uri="{FF2B5EF4-FFF2-40B4-BE49-F238E27FC236}">
                <a16:creationId xmlns:a16="http://schemas.microsoft.com/office/drawing/2014/main" id="{2A612340-7B31-6DBA-4656-EBF6981119D5}"/>
              </a:ext>
            </a:extLst>
          </p:cNvPr>
          <p:cNvPicPr>
            <a:picLocks noChangeAspect="1"/>
          </p:cNvPicPr>
          <p:nvPr/>
        </p:nvPicPr>
        <p:blipFill>
          <a:blip r:embed="rId2"/>
          <a:stretch>
            <a:fillRect/>
          </a:stretch>
        </p:blipFill>
        <p:spPr>
          <a:xfrm>
            <a:off x="9804048" y="196646"/>
            <a:ext cx="2219517" cy="1156816"/>
          </a:xfrm>
          <a:prstGeom prst="rect">
            <a:avLst/>
          </a:prstGeom>
        </p:spPr>
      </p:pic>
    </p:spTree>
    <p:extLst>
      <p:ext uri="{BB962C8B-B14F-4D97-AF65-F5344CB8AC3E}">
        <p14:creationId xmlns:p14="http://schemas.microsoft.com/office/powerpoint/2010/main" val="1602547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D9C82A-7616-6ED4-B18B-5963E96B2550}"/>
              </a:ext>
            </a:extLst>
          </p:cNvPr>
          <p:cNvSpPr>
            <a:spLocks noGrp="1"/>
          </p:cNvSpPr>
          <p:nvPr>
            <p:ph type="title"/>
          </p:nvPr>
        </p:nvSpPr>
        <p:spPr/>
        <p:txBody>
          <a:bodyPr/>
          <a:lstStyle/>
          <a:p>
            <a:r>
              <a:rPr lang="en-US" b="1" dirty="0"/>
              <a:t>📌 </a:t>
            </a:r>
            <a:r>
              <a:rPr lang="en-US" b="1" dirty="0">
                <a:latin typeface="Times New Roman" panose="02020603050405020304" pitchFamily="18" charset="0"/>
                <a:cs typeface="Times New Roman" panose="02020603050405020304" pitchFamily="18" charset="0"/>
              </a:rPr>
              <a:t>7. Expected Results</a:t>
            </a:r>
            <a:br>
              <a:rPr lang="en-US" b="1" dirty="0"/>
            </a:br>
            <a:endParaRPr lang="en-IN" b="1" dirty="0"/>
          </a:p>
        </p:txBody>
      </p:sp>
      <p:sp>
        <p:nvSpPr>
          <p:cNvPr id="3" name="Content Placeholder 2">
            <a:extLst>
              <a:ext uri="{FF2B5EF4-FFF2-40B4-BE49-F238E27FC236}">
                <a16:creationId xmlns:a16="http://schemas.microsoft.com/office/drawing/2014/main" id="{73BCCE6F-0238-93AB-9D56-F6715746786C}"/>
              </a:ext>
            </a:extLst>
          </p:cNvPr>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Efficient handling of large retail datasets </a:t>
            </a:r>
          </a:p>
          <a:p>
            <a:r>
              <a:rPr lang="en-US" dirty="0">
                <a:latin typeface="Times New Roman" panose="02020603050405020304" pitchFamily="18" charset="0"/>
                <a:cs typeface="Times New Roman" panose="02020603050405020304" pitchFamily="18" charset="0"/>
              </a:rPr>
              <a:t>Automated data processing pipeline </a:t>
            </a:r>
          </a:p>
          <a:p>
            <a:r>
              <a:rPr lang="en-US" dirty="0">
                <a:latin typeface="Times New Roman" panose="02020603050405020304" pitchFamily="18" charset="0"/>
                <a:cs typeface="Times New Roman" panose="02020603050405020304" pitchFamily="18" charset="0"/>
              </a:rPr>
              <a:t>Real-time visualization of sales data </a:t>
            </a:r>
          </a:p>
          <a:p>
            <a:r>
              <a:rPr lang="en-US" dirty="0">
                <a:latin typeface="Times New Roman" panose="02020603050405020304" pitchFamily="18" charset="0"/>
                <a:cs typeface="Times New Roman" panose="02020603050405020304" pitchFamily="18" charset="0"/>
              </a:rPr>
              <a:t>Improved decision-making through insights </a:t>
            </a:r>
          </a:p>
          <a:p>
            <a:r>
              <a:rPr lang="en-US" dirty="0">
                <a:latin typeface="Times New Roman" panose="02020603050405020304" pitchFamily="18" charset="0"/>
                <a:cs typeface="Times New Roman" panose="02020603050405020304" pitchFamily="18" charset="0"/>
              </a:rPr>
              <a:t>Reduced operational cost using cloud solutions</a:t>
            </a:r>
          </a:p>
        </p:txBody>
      </p:sp>
      <p:pic>
        <p:nvPicPr>
          <p:cNvPr id="4" name="Picture 3">
            <a:extLst>
              <a:ext uri="{FF2B5EF4-FFF2-40B4-BE49-F238E27FC236}">
                <a16:creationId xmlns:a16="http://schemas.microsoft.com/office/drawing/2014/main" id="{968D643E-4401-B39D-AF85-66F30C882B24}"/>
              </a:ext>
            </a:extLst>
          </p:cNvPr>
          <p:cNvPicPr>
            <a:picLocks noChangeAspect="1"/>
          </p:cNvPicPr>
          <p:nvPr/>
        </p:nvPicPr>
        <p:blipFill>
          <a:blip r:embed="rId2"/>
          <a:stretch>
            <a:fillRect/>
          </a:stretch>
        </p:blipFill>
        <p:spPr>
          <a:xfrm>
            <a:off x="9804048" y="196646"/>
            <a:ext cx="2219517" cy="1156816"/>
          </a:xfrm>
          <a:prstGeom prst="rect">
            <a:avLst/>
          </a:prstGeom>
        </p:spPr>
      </p:pic>
    </p:spTree>
    <p:extLst>
      <p:ext uri="{BB962C8B-B14F-4D97-AF65-F5344CB8AC3E}">
        <p14:creationId xmlns:p14="http://schemas.microsoft.com/office/powerpoint/2010/main" val="3019256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116B8-F8E0-9FCE-00C2-F85FF0454CAB}"/>
              </a:ext>
            </a:extLst>
          </p:cNvPr>
          <p:cNvSpPr>
            <a:spLocks noGrp="1"/>
          </p:cNvSpPr>
          <p:nvPr>
            <p:ph type="title"/>
          </p:nvPr>
        </p:nvSpPr>
        <p:spPr>
          <a:xfrm>
            <a:off x="1913641" y="65989"/>
            <a:ext cx="9440159" cy="1545996"/>
          </a:xfrm>
        </p:spPr>
        <p:txBody>
          <a:bodyPr>
            <a:normAutofit/>
          </a:bodyPr>
          <a:lstStyle/>
          <a:p>
            <a:r>
              <a:rPr lang="en-US" sz="5400" dirty="0"/>
              <a:t>📌 </a:t>
            </a:r>
            <a:r>
              <a:rPr lang="en-US" sz="5400" b="1" dirty="0"/>
              <a:t>8. </a:t>
            </a:r>
            <a:r>
              <a:rPr lang="en-US" sz="4800" b="1" dirty="0"/>
              <a:t>Implementation</a:t>
            </a:r>
            <a:endParaRPr lang="en-IN" sz="4800" b="1" dirty="0"/>
          </a:p>
        </p:txBody>
      </p:sp>
      <p:pic>
        <p:nvPicPr>
          <p:cNvPr id="4" name="Picture 3">
            <a:extLst>
              <a:ext uri="{FF2B5EF4-FFF2-40B4-BE49-F238E27FC236}">
                <a16:creationId xmlns:a16="http://schemas.microsoft.com/office/drawing/2014/main" id="{2030857D-432A-2A41-8D98-81E4F391B044}"/>
              </a:ext>
            </a:extLst>
          </p:cNvPr>
          <p:cNvPicPr>
            <a:picLocks noChangeAspect="1"/>
          </p:cNvPicPr>
          <p:nvPr/>
        </p:nvPicPr>
        <p:blipFill>
          <a:blip r:embed="rId2"/>
          <a:stretch>
            <a:fillRect/>
          </a:stretch>
        </p:blipFill>
        <p:spPr>
          <a:xfrm>
            <a:off x="0" y="1421366"/>
            <a:ext cx="12191999" cy="5436634"/>
          </a:xfrm>
          <a:prstGeom prst="rect">
            <a:avLst/>
          </a:prstGeom>
        </p:spPr>
      </p:pic>
    </p:spTree>
    <p:extLst>
      <p:ext uri="{BB962C8B-B14F-4D97-AF65-F5344CB8AC3E}">
        <p14:creationId xmlns:p14="http://schemas.microsoft.com/office/powerpoint/2010/main" val="39743438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14E67-A575-6F2A-AEF6-82614F841901}"/>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9. Results</a:t>
            </a:r>
            <a:endParaRPr lang="en-US"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59BB4C5-A575-86A3-447B-11F8A483A99F}"/>
              </a:ext>
            </a:extLst>
          </p:cNvPr>
          <p:cNvSpPr txBox="1"/>
          <p:nvPr/>
        </p:nvSpPr>
        <p:spPr>
          <a:xfrm>
            <a:off x="838200" y="1904215"/>
            <a:ext cx="11296454" cy="3539430"/>
          </a:xfrm>
          <a:prstGeom prst="rect">
            <a:avLst/>
          </a:prstGeom>
          <a:noFill/>
        </p:spPr>
        <p:txBody>
          <a:bodyPr wrap="square">
            <a:spAutoFit/>
          </a:bodyPr>
          <a:lstStyle/>
          <a:p>
            <a:pPr>
              <a:buNone/>
            </a:pPr>
            <a:r>
              <a:rPr lang="en-US" sz="3200" dirty="0">
                <a:latin typeface="Times New Roman" panose="02020603050405020304" pitchFamily="18" charset="0"/>
                <a:cs typeface="Times New Roman" panose="02020603050405020304" pitchFamily="18" charset="0"/>
              </a:rPr>
              <a:t>The system successfully:</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Processes large-scale retail data efficiently </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Provides interactive dashboards for analysis </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Displays sales trends, regional performance, and product insights </a:t>
            </a:r>
          </a:p>
          <a:p>
            <a:pPr>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Enables quick and data-driven decision-making </a:t>
            </a:r>
          </a:p>
          <a:p>
            <a:pPr>
              <a:buNone/>
            </a:pPr>
            <a:r>
              <a:rPr lang="en-US" sz="3200" dirty="0">
                <a:latin typeface="Times New Roman" panose="02020603050405020304" pitchFamily="18" charset="0"/>
                <a:cs typeface="Times New Roman" panose="02020603050405020304" pitchFamily="18" charset="0"/>
              </a:rPr>
              <a:t>The final dashboard improves visibility and helps businesses optimize their strategies.</a:t>
            </a:r>
          </a:p>
        </p:txBody>
      </p:sp>
    </p:spTree>
    <p:extLst>
      <p:ext uri="{BB962C8B-B14F-4D97-AF65-F5344CB8AC3E}">
        <p14:creationId xmlns:p14="http://schemas.microsoft.com/office/powerpoint/2010/main" val="852536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E51E7A5-E597-0DD8-1AAF-DEF9199C8B11}"/>
              </a:ext>
            </a:extLst>
          </p:cNvPr>
          <p:cNvPicPr>
            <a:picLocks noChangeAspect="1"/>
          </p:cNvPicPr>
          <p:nvPr/>
        </p:nvPicPr>
        <p:blipFill>
          <a:blip r:embed="rId2"/>
          <a:stretch>
            <a:fillRect/>
          </a:stretch>
        </p:blipFill>
        <p:spPr>
          <a:xfrm>
            <a:off x="-1" y="3485678"/>
            <a:ext cx="6096001" cy="3372321"/>
          </a:xfrm>
          <a:prstGeom prst="rect">
            <a:avLst/>
          </a:prstGeom>
        </p:spPr>
      </p:pic>
      <p:pic>
        <p:nvPicPr>
          <p:cNvPr id="5" name="Picture 4">
            <a:extLst>
              <a:ext uri="{FF2B5EF4-FFF2-40B4-BE49-F238E27FC236}">
                <a16:creationId xmlns:a16="http://schemas.microsoft.com/office/drawing/2014/main" id="{F3F65295-135E-40ED-54DB-4B6F7C8AAEEE}"/>
              </a:ext>
            </a:extLst>
          </p:cNvPr>
          <p:cNvPicPr>
            <a:picLocks noChangeAspect="1"/>
          </p:cNvPicPr>
          <p:nvPr/>
        </p:nvPicPr>
        <p:blipFill>
          <a:blip r:embed="rId3"/>
          <a:stretch>
            <a:fillRect/>
          </a:stretch>
        </p:blipFill>
        <p:spPr>
          <a:xfrm>
            <a:off x="6730737" y="-111296"/>
            <a:ext cx="5458962" cy="3540295"/>
          </a:xfrm>
          <a:prstGeom prst="rect">
            <a:avLst/>
          </a:prstGeom>
        </p:spPr>
      </p:pic>
      <p:pic>
        <p:nvPicPr>
          <p:cNvPr id="7" name="Picture 6">
            <a:extLst>
              <a:ext uri="{FF2B5EF4-FFF2-40B4-BE49-F238E27FC236}">
                <a16:creationId xmlns:a16="http://schemas.microsoft.com/office/drawing/2014/main" id="{5EA17F41-DE84-F190-EE81-A288920529EA}"/>
              </a:ext>
            </a:extLst>
          </p:cNvPr>
          <p:cNvPicPr>
            <a:picLocks noChangeAspect="1"/>
          </p:cNvPicPr>
          <p:nvPr/>
        </p:nvPicPr>
        <p:blipFill>
          <a:blip r:embed="rId4"/>
          <a:stretch>
            <a:fillRect/>
          </a:stretch>
        </p:blipFill>
        <p:spPr>
          <a:xfrm>
            <a:off x="6730737" y="3485679"/>
            <a:ext cx="5458961" cy="3372321"/>
          </a:xfrm>
          <a:prstGeom prst="rect">
            <a:avLst/>
          </a:prstGeom>
        </p:spPr>
      </p:pic>
      <p:pic>
        <p:nvPicPr>
          <p:cNvPr id="9" name="Picture 8">
            <a:extLst>
              <a:ext uri="{FF2B5EF4-FFF2-40B4-BE49-F238E27FC236}">
                <a16:creationId xmlns:a16="http://schemas.microsoft.com/office/drawing/2014/main" id="{B7813C7E-9F95-4745-C12C-DE6E61BBB811}"/>
              </a:ext>
            </a:extLst>
          </p:cNvPr>
          <p:cNvPicPr>
            <a:picLocks noChangeAspect="1"/>
          </p:cNvPicPr>
          <p:nvPr/>
        </p:nvPicPr>
        <p:blipFill>
          <a:blip r:embed="rId5"/>
          <a:stretch>
            <a:fillRect/>
          </a:stretch>
        </p:blipFill>
        <p:spPr>
          <a:xfrm>
            <a:off x="1" y="0"/>
            <a:ext cx="5986020" cy="3031900"/>
          </a:xfrm>
          <a:prstGeom prst="rect">
            <a:avLst/>
          </a:prstGeom>
        </p:spPr>
      </p:pic>
    </p:spTree>
    <p:extLst>
      <p:ext uri="{BB962C8B-B14F-4D97-AF65-F5344CB8AC3E}">
        <p14:creationId xmlns:p14="http://schemas.microsoft.com/office/powerpoint/2010/main" val="18848639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631</Words>
  <Application>Microsoft Office PowerPoint</Application>
  <PresentationFormat>Widescreen</PresentationFormat>
  <Paragraphs>51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Times New Roman</vt:lpstr>
      <vt:lpstr>Office Theme</vt:lpstr>
      <vt:lpstr>Retail Sales Analytics Dashboard</vt:lpstr>
      <vt:lpstr>📌 1. Introduction </vt:lpstr>
      <vt:lpstr>📌 2. Abstract</vt:lpstr>
      <vt:lpstr>📌 3. Objectives </vt:lpstr>
      <vt:lpstr>📌 4. Literature Survey </vt:lpstr>
      <vt:lpstr>📌 5. Proposed Solution </vt:lpstr>
      <vt:lpstr>📌 6. Methodology </vt:lpstr>
      <vt:lpstr>📌 7. Expected Results </vt:lpstr>
      <vt:lpstr>📌 8. Implementation</vt:lpstr>
      <vt:lpstr>📌 9. Results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Ravuri Bramhani</dc:creator>
  <cp:lastModifiedBy>Cherukuri Sai Deekshita</cp:lastModifiedBy>
  <cp:revision>15</cp:revision>
  <dcterms:created xsi:type="dcterms:W3CDTF">2026-02-19T06:55:13Z</dcterms:created>
  <dcterms:modified xsi:type="dcterms:W3CDTF">2026-04-21T04:40:38Z</dcterms:modified>
</cp:coreProperties>
</file>